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4193" r:id="rId5"/>
  </p:sldMasterIdLst>
  <p:notesMasterIdLst>
    <p:notesMasterId r:id="rId12"/>
  </p:notesMasterIdLst>
  <p:handoutMasterIdLst>
    <p:handoutMasterId r:id="rId13"/>
  </p:handoutMasterIdLst>
  <p:sldIdLst>
    <p:sldId id="1831" r:id="rId6"/>
    <p:sldId id="1832" r:id="rId7"/>
    <p:sldId id="1837" r:id="rId8"/>
    <p:sldId id="1835" r:id="rId9"/>
    <p:sldId id="1836" r:id="rId10"/>
    <p:sldId id="1834" r:id="rId11"/>
  </p:sldIdLst>
  <p:sldSz cx="9144000" cy="6858000" type="screen4x3"/>
  <p:notesSz cx="7010400" cy="92964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899F"/>
    <a:srgbClr val="263645"/>
    <a:srgbClr val="D1461C"/>
    <a:srgbClr val="1E1E1E"/>
    <a:srgbClr val="578C33"/>
    <a:srgbClr val="00B050"/>
    <a:srgbClr val="F8CF1D"/>
    <a:srgbClr val="000000"/>
    <a:srgbClr val="E01135"/>
    <a:srgbClr val="44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34" autoAdjust="0"/>
    <p:restoredTop sz="95652" autoAdjust="0"/>
  </p:normalViewPr>
  <p:slideViewPr>
    <p:cSldViewPr snapToGrid="0">
      <p:cViewPr varScale="1">
        <p:scale>
          <a:sx n="161" d="100"/>
          <a:sy n="161" d="100"/>
        </p:scale>
        <p:origin x="1868" y="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727DF71-59DF-4C79-93AC-244CC8BF9C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27" tIns="45713" rIns="91427" bIns="45713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1B736D-51CA-42A6-8472-BC65759634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27" tIns="45713" rIns="91427" bIns="45713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996A0E8-08DD-4854-B494-68462FEF0B85}" type="datetimeFigureOut">
              <a:rPr lang="en-US"/>
              <a:pPr>
                <a:defRPr/>
              </a:pPr>
              <a:t>9/21/2022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331495-1C08-4CE3-861F-1E5A759D749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27" tIns="45713" rIns="91427" bIns="45713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0DA2F-B065-4417-8A89-EC28F9BEAFB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27" tIns="45713" rIns="91427" bIns="45713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D657FBB-60ED-4D78-ABF5-3039903D60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F7D9BA-2CB9-4E2A-82C6-1884AFA873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27" tIns="45713" rIns="91427" bIns="45713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3001CA-C75D-4768-B79E-514290863B6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27" tIns="45713" rIns="91427" bIns="45713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CDA0213-9352-4791-B16D-CE9E146969CD}" type="datetimeFigureOut">
              <a:rPr lang="en-US"/>
              <a:pPr>
                <a:defRPr/>
              </a:pPr>
              <a:t>9/21/2022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BC7052E-44EB-4F2C-8E4B-84A8FA06BB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7" tIns="45713" rIns="91427" bIns="4571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43420A7-58F8-4A7C-BDAA-C03D075A87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27" tIns="45713" rIns="91427" bIns="4571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CB42E-BD4E-4BF0-BE9B-26E64DB5354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27" tIns="45713" rIns="91427" bIns="45713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00136-FC0B-417E-B7E2-D7659FF0B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27" tIns="45713" rIns="91427" bIns="45713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0636348-2484-4751-8D63-3291D6A60E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2B7684AA-59B0-4C3A-97F0-E1BBA0A4BE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FA6D5DB6-8B64-4216-9E9D-8D347F93C4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D05F96A3-996B-4236-8012-6A972BEA63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37824" indent="-28377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35113" indent="-22702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89159" indent="-22702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43204" indent="-22702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497249" indent="-227023" defTabSz="45404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51295" indent="-227023" defTabSz="45404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05340" indent="-227023" defTabSz="45404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59385" indent="-227023" defTabSz="45404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D831A45-CF00-4924-9435-1F241F342954}" type="slidenum">
              <a:rPr lang="en-US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0428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EEA54-DC4E-4EBE-8CA2-80213E145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0E75C9-C56D-42C2-9620-616174F97591}" type="datetime1">
              <a:rPr lang="en-US"/>
              <a:pPr>
                <a:defRPr/>
              </a:pPr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A9EB7-062A-490C-BE44-49C83AE2E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5A32D-6A85-4D11-8496-00B983CC73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99234-3E4A-46E2-BB6E-CF59369AD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217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EB60C-6F87-4B36-B8EE-29E025AAE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60208A-F61F-4654-8E4B-887F5B7330B9}" type="datetime1">
              <a:rPr lang="en-US"/>
              <a:pPr>
                <a:defRPr/>
              </a:pPr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C83DB-6DBA-4573-9C0F-E82ED4016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5ADC96-237C-4B3B-B853-791D015591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40836-B15D-464E-B6F0-D7BAC0437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E9308-3825-495E-8E97-607C316F9D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845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D5500-5723-4CEA-AE2B-EFBF881CD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8919EB-F3A4-4A87-A60D-82F593677EAF}" type="datetime1">
              <a:rPr lang="en-US"/>
              <a:pPr>
                <a:defRPr/>
              </a:pPr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B6A0A-B050-4E2D-887C-A8DEB7247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78EF0C-3A98-4EDB-809E-5F917BB3D8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7955F-FEBB-4232-88F8-F5056189E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433061-4E9C-48BD-92B2-4A7351B97A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799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E6FA1F-819C-49CF-B36A-2D26F4250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2D1116-2C95-443D-BA6A-859A197019C1}" type="datetime1">
              <a:rPr lang="en-US"/>
              <a:pPr>
                <a:defRPr/>
              </a:pPr>
              <a:t>9/21/2022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26F2C-13CE-48F8-A53A-18A060E29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74A52-8119-4805-896E-FF31F29B71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ED10D-650D-4A39-BA61-37FA237CA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71DB4-BD92-4940-A9A9-0355BA45F4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1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1DF39-E2F6-4103-93D1-2835F0D32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75C446-FDE0-4953-B8E0-68EDA8FEF677}" type="datetime1">
              <a:rPr lang="en-US"/>
              <a:pPr>
                <a:defRPr/>
              </a:pPr>
              <a:t>9/21/2022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0BEB0-7C88-49FF-B68B-7B02DC492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5AADC-9F03-46F5-863B-BAF265F14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14ED9-151D-4D60-9E4D-0A7E92886D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141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486EB-F3B4-4514-825B-ED4F8247D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936F5-16DE-48A3-B52C-A4E13562DC1F}" type="datetime1">
              <a:rPr lang="en-US"/>
              <a:pPr>
                <a:defRPr/>
              </a:pPr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3F807-B7CC-4915-BD43-90C8BE4E5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83D17-105E-46FE-A81B-705B05339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5652F0-41B0-475E-9BA2-5EC10C4EB8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644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BB946-1ADE-481F-A62F-F66863479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00433D-0232-4121-A120-F164658C108E}" type="datetime1">
              <a:rPr lang="en-US"/>
              <a:pPr>
                <a:defRPr/>
              </a:pPr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792AF-8D0C-483B-B284-628C9A257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8A827-5A6C-4EA5-9244-5A0186DA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43FEED-74D7-41E2-994E-F4D02F3A8C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88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7C2F-4300-654F-B41D-ED6AD1FB98B2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5475-4722-3C4C-89D6-C20C7B136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508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7C2F-4300-654F-B41D-ED6AD1FB98B2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5475-4722-3C4C-89D6-C20C7B136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647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7C2F-4300-654F-B41D-ED6AD1FB98B2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5475-4722-3C4C-89D6-C20C7B136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65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7C2F-4300-654F-B41D-ED6AD1FB98B2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5475-4722-3C4C-89D6-C20C7B136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069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7C2F-4300-654F-B41D-ED6AD1FB98B2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5475-4722-3C4C-89D6-C20C7B136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960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7C2F-4300-654F-B41D-ED6AD1FB98B2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5475-4722-3C4C-89D6-C20C7B136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50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7C2F-4300-654F-B41D-ED6AD1FB98B2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5475-4722-3C4C-89D6-C20C7B136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8998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7C2F-4300-654F-B41D-ED6AD1FB98B2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5475-4722-3C4C-89D6-C20C7B136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5632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7C2F-4300-654F-B41D-ED6AD1FB98B2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5475-4722-3C4C-89D6-C20C7B136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568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7C2F-4300-654F-B41D-ED6AD1FB98B2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5475-4722-3C4C-89D6-C20C7B136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190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7C2F-4300-654F-B41D-ED6AD1FB98B2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5475-4722-3C4C-89D6-C20C7B136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6540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57738" y="2173288"/>
            <a:ext cx="3857625" cy="2090808"/>
          </a:xfrm>
        </p:spPr>
        <p:txBody>
          <a:bodyPr anchor="b">
            <a:noAutofit/>
          </a:bodyPr>
          <a:lstStyle>
            <a:lvl1pPr algn="l">
              <a:defRPr sz="4050" b="1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/>
              <a:t>Title comes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7738" y="4279972"/>
            <a:ext cx="3857625" cy="503167"/>
          </a:xfrm>
        </p:spPr>
        <p:txBody>
          <a:bodyPr>
            <a:no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3109" y="728546"/>
            <a:ext cx="3979246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noProof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296229" y="-2049517"/>
            <a:ext cx="6687922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noProof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noProof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4852334" y="4233582"/>
            <a:ext cx="18992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2232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4220" y="1825625"/>
            <a:ext cx="3685642" cy="4351338"/>
          </a:xfrm>
        </p:spPr>
        <p:txBody>
          <a:bodyPr lIns="0" tIns="0" rIns="0" bIns="0">
            <a:no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386953" y="-16721"/>
            <a:ext cx="943964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E17FB3-B5C4-4B3A-A57B-C6493A9D0C66}"/>
              </a:ext>
            </a:extLst>
          </p:cNvPr>
          <p:cNvGrpSpPr/>
          <p:nvPr userDrawn="1"/>
        </p:nvGrpSpPr>
        <p:grpSpPr>
          <a:xfrm rot="8650774">
            <a:off x="3778241" y="4336094"/>
            <a:ext cx="1428750" cy="2354263"/>
            <a:chOff x="11114088" y="2241550"/>
            <a:chExt cx="1905000" cy="2354263"/>
          </a:xfrm>
          <a:solidFill>
            <a:schemeClr val="bg2"/>
          </a:solidFill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CA6C454-F761-4265-BB5E-DFD947CC3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noProof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6B853B2F-9E1C-4AC4-9344-8610498D5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noProof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B7FCC84B-2235-4948-8277-8363DFC69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noProof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8528752" y="6409398"/>
            <a:ext cx="210038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6455740"/>
            <a:ext cx="220845" cy="187367"/>
          </a:xfrm>
        </p:spPr>
        <p:txBody>
          <a:bodyPr lIns="0" tIns="0" rIns="0" bIns="0"/>
          <a:lstStyle>
            <a:lvl1pPr algn="ctr">
              <a:defRPr sz="675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26619E66-5354-4D60-8529-27917AC037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13486" y="0"/>
            <a:ext cx="4730515" cy="5780372"/>
          </a:xfrm>
          <a:custGeom>
            <a:avLst/>
            <a:gdLst>
              <a:gd name="connsiteX0" fmla="*/ 760444 w 6307353"/>
              <a:gd name="connsiteY0" fmla="*/ 0 h 5780372"/>
              <a:gd name="connsiteX1" fmla="*/ 6307353 w 6307353"/>
              <a:gd name="connsiteY1" fmla="*/ 0 h 5780372"/>
              <a:gd name="connsiteX2" fmla="*/ 6307353 w 6307353"/>
              <a:gd name="connsiteY2" fmla="*/ 4515612 h 5780372"/>
              <a:gd name="connsiteX3" fmla="*/ 6110746 w 6307353"/>
              <a:gd name="connsiteY3" fmla="*/ 4731934 h 5780372"/>
              <a:gd name="connsiteX4" fmla="*/ 3579592 w 6307353"/>
              <a:gd name="connsiteY4" fmla="*/ 5780372 h 5780372"/>
              <a:gd name="connsiteX5" fmla="*/ 0 w 6307353"/>
              <a:gd name="connsiteY5" fmla="*/ 2200780 h 5780372"/>
              <a:gd name="connsiteX6" fmla="*/ 611338 w 6307353"/>
              <a:gd name="connsiteY6" fmla="*/ 199396 h 578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7353" h="5780372">
                <a:moveTo>
                  <a:pt x="760444" y="0"/>
                </a:moveTo>
                <a:lnTo>
                  <a:pt x="6307353" y="0"/>
                </a:lnTo>
                <a:lnTo>
                  <a:pt x="6307353" y="4515612"/>
                </a:lnTo>
                <a:lnTo>
                  <a:pt x="6110746" y="4731934"/>
                </a:lnTo>
                <a:cubicBezTo>
                  <a:pt x="5462967" y="5379713"/>
                  <a:pt x="4568069" y="5780372"/>
                  <a:pt x="3579592" y="5780372"/>
                </a:cubicBezTo>
                <a:cubicBezTo>
                  <a:pt x="1602638" y="5780372"/>
                  <a:pt x="0" y="4177734"/>
                  <a:pt x="0" y="2200780"/>
                </a:cubicBezTo>
                <a:cubicBezTo>
                  <a:pt x="0" y="1459422"/>
                  <a:pt x="225371" y="770703"/>
                  <a:pt x="611338" y="19939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noProof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E646B4F-6CCB-724C-9D5E-6D577002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54" y="499596"/>
            <a:ext cx="3702908" cy="1325563"/>
          </a:xfrm>
        </p:spPr>
        <p:txBody>
          <a:bodyPr lIns="0" tIns="0" rIns="0" bIns="0">
            <a:noAutofit/>
          </a:bodyPr>
          <a:lstStyle>
            <a:lvl1pPr>
              <a:defRPr sz="2400" b="1"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88290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89CD49E-1085-461B-909A-AA86A52A44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12214A21-ED05-4350-8FDD-380C13AB31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67D5C-4B92-4CC3-B099-798DF04BE7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2AE5275-EC19-45D3-9C07-F7C736586659}" type="datetime1">
              <a:rPr lang="en-US"/>
              <a:pPr>
                <a:defRPr/>
              </a:pPr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759A2-0307-418B-9ED7-18E02B49BA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6D04DD3-EC15-49B5-A6FF-AD210A7E87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20560-1465-4302-8F6D-A3C99D4527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2" r:id="rId1"/>
    <p:sldLayoutId id="2147484186" r:id="rId2"/>
    <p:sldLayoutId id="2147484187" r:id="rId3"/>
    <p:sldLayoutId id="2147484188" r:id="rId4"/>
    <p:sldLayoutId id="2147484189" r:id="rId5"/>
    <p:sldLayoutId id="2147484190" r:id="rId6"/>
    <p:sldLayoutId id="2147484191" r:id="rId7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37C2F-4300-654F-B41D-ED6AD1FB98B2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B5475-4722-3C4C-89D6-C20C7B136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15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4" r:id="rId1"/>
    <p:sldLayoutId id="2147484195" r:id="rId2"/>
    <p:sldLayoutId id="2147484196" r:id="rId3"/>
    <p:sldLayoutId id="2147484197" r:id="rId4"/>
    <p:sldLayoutId id="2147484198" r:id="rId5"/>
    <p:sldLayoutId id="2147484199" r:id="rId6"/>
    <p:sldLayoutId id="2147484200" r:id="rId7"/>
    <p:sldLayoutId id="2147484201" r:id="rId8"/>
    <p:sldLayoutId id="2147484202" r:id="rId9"/>
    <p:sldLayoutId id="2147484203" r:id="rId10"/>
    <p:sldLayoutId id="2147484204" r:id="rId11"/>
    <p:sldLayoutId id="2147484206" r:id="rId12"/>
    <p:sldLayoutId id="2147484207" r:id="rId13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8BD864-D2EF-7C43-A8DF-DDEBE4493E9A}"/>
              </a:ext>
            </a:extLst>
          </p:cNvPr>
          <p:cNvSpPr/>
          <p:nvPr/>
        </p:nvSpPr>
        <p:spPr>
          <a:xfrm>
            <a:off x="0" y="0"/>
            <a:ext cx="9155307" cy="6273501"/>
          </a:xfrm>
          <a:prstGeom prst="rect">
            <a:avLst/>
          </a:prstGeom>
          <a:solidFill>
            <a:srgbClr val="263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263645"/>
              </a:solidFill>
            </a:endParaRPr>
          </a:p>
        </p:txBody>
      </p:sp>
      <p:pic>
        <p:nvPicPr>
          <p:cNvPr id="7" name="Picture 6" descr="A picture containing text, sign, dark, close&#10;&#10;Description automatically generated">
            <a:extLst>
              <a:ext uri="{FF2B5EF4-FFF2-40B4-BE49-F238E27FC236}">
                <a16:creationId xmlns:a16="http://schemas.microsoft.com/office/drawing/2014/main" id="{EC676EA6-49A0-9A4F-B57B-330B41FA4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691" y="6471070"/>
            <a:ext cx="1193833" cy="203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705DCB-A388-4E46-BAA5-A69052E9EFD5}"/>
              </a:ext>
            </a:extLst>
          </p:cNvPr>
          <p:cNvSpPr txBox="1"/>
          <p:nvPr/>
        </p:nvSpPr>
        <p:spPr>
          <a:xfrm>
            <a:off x="888420" y="2274838"/>
            <a:ext cx="68602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Avenir Next LT Pro Demi" panose="020B0504020202020204" pitchFamily="34" charset="77"/>
                <a:cs typeface="Avenir Next LT Pro" panose="020F0502020204030204" pitchFamily="34" charset="0"/>
              </a:rPr>
              <a:t>Harry’s Data Exercise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81D3AF-78A5-4E49-B84F-C0459CB4DB18}"/>
              </a:ext>
            </a:extLst>
          </p:cNvPr>
          <p:cNvSpPr txBox="1"/>
          <p:nvPr/>
        </p:nvSpPr>
        <p:spPr>
          <a:xfrm>
            <a:off x="856956" y="2908399"/>
            <a:ext cx="4403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venir Next LT Pro Light" panose="020B0504020202020204" pitchFamily="34" charset="77"/>
              </a:rPr>
              <a:t>Jacob Shughrue</a:t>
            </a:r>
          </a:p>
        </p:txBody>
      </p: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ACCEA4CE-8F44-1B4C-9CF8-A29DFF964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463" y="581872"/>
            <a:ext cx="1013410" cy="769441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467E8C4-46E4-5B49-BA6C-FAB70F2D77D3}"/>
              </a:ext>
            </a:extLst>
          </p:cNvPr>
          <p:cNvCxnSpPr>
            <a:cxnSpLocks/>
          </p:cNvCxnSpPr>
          <p:nvPr/>
        </p:nvCxnSpPr>
        <p:spPr>
          <a:xfrm>
            <a:off x="0" y="6059848"/>
            <a:ext cx="9155307" cy="0"/>
          </a:xfrm>
          <a:prstGeom prst="line">
            <a:avLst/>
          </a:prstGeom>
          <a:ln w="28575">
            <a:solidFill>
              <a:srgbClr val="D1461C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998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CE0C4-2C2E-2245-AE48-D52EC96FC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b="1" dirty="0">
                <a:solidFill>
                  <a:srgbClr val="263645"/>
                </a:solidFill>
                <a:latin typeface="Avenir Next LT Pro Demi" panose="020B0504020202020204" pitchFamily="34" charset="77"/>
              </a:rPr>
              <a:t>Project Overview</a:t>
            </a:r>
            <a:br>
              <a:rPr lang="en-US" altLang="en-US" b="1" dirty="0">
                <a:solidFill>
                  <a:srgbClr val="263645"/>
                </a:solidFill>
                <a:latin typeface="Avenir Heavy" panose="02000503020000020003" pitchFamily="2" charset="0"/>
              </a:rPr>
            </a:b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  <a:latin typeface="Avenir Next LT Pro" panose="020B0504020202020204" pitchFamily="34" charset="77"/>
              </a:rPr>
              <a:t>Steps Taken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1A68A-BB4D-4146-9C43-956E4D8C2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302" y="1586466"/>
            <a:ext cx="7502577" cy="36850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sz="20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Excel  Initial data exploration and manipulation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Imported .csv and saved as data_excel_export.xlsx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Created 15 columns (incl. 5 flags) to allow for filtering and analysis</a:t>
            </a:r>
            <a:br>
              <a:rPr lang="en-US" altLang="en-US" sz="20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</a:br>
            <a:endParaRPr lang="en-US" altLang="en-US" sz="2000" dirty="0">
              <a:latin typeface="Avenir Next LT Pro" panose="020B0504020202020204" pitchFamily="34" charset="77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Power BI  Data visualization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Imported data_excel_export.xlsx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Some additional manipulation/creation of measures (via DAX)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Created fully interactive dashboard of findings</a:t>
            </a:r>
            <a:br>
              <a:rPr lang="en-US" altLang="en-US" sz="14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</a:br>
            <a:endParaRPr lang="en-US" altLang="en-US" sz="2000" dirty="0">
              <a:latin typeface="Avenir Next LT Pro" panose="020B0504020202020204" pitchFamily="34" charset="77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Avenir Next LT Pro" panose="020B0504020202020204" pitchFamily="34" charset="77"/>
                <a:cs typeface="Arial" panose="020B0604020202020204" pitchFamily="34" charset="0"/>
              </a:rPr>
              <a:t>Python </a:t>
            </a:r>
            <a:r>
              <a:rPr lang="en-US" altLang="en-US" sz="20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 Automation of data manipulation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Created a script to replace the manual steps taken in Excel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1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After becoming familiar with the data, I wrote a script that could be run 100+ times a day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1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This automates the data pipeline eliminating the need for Excel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Output results to data_python_export.csv</a:t>
            </a:r>
          </a:p>
          <a:p>
            <a:pPr marL="0" indent="0">
              <a:buNone/>
            </a:pPr>
            <a:endParaRPr lang="en-US" altLang="en-US" sz="2000" dirty="0">
              <a:latin typeface="Avenir Next LT Pro" panose="020B0504020202020204" pitchFamily="34" charset="7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en-US" sz="2000" dirty="0">
              <a:latin typeface="Avenir Next LT Pro" panose="020B0504020202020204" pitchFamily="34" charset="77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240CA1-183E-7C4F-8EF0-131ECEE8F33E}"/>
              </a:ext>
            </a:extLst>
          </p:cNvPr>
          <p:cNvSpPr/>
          <p:nvPr/>
        </p:nvSpPr>
        <p:spPr>
          <a:xfrm>
            <a:off x="577121" y="1555739"/>
            <a:ext cx="448216" cy="448216"/>
          </a:xfrm>
          <a:prstGeom prst="ellipse">
            <a:avLst/>
          </a:prstGeom>
          <a:solidFill>
            <a:srgbClr val="5F899F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29FF30-6420-3B4E-8384-AEB703A24D2B}"/>
              </a:ext>
            </a:extLst>
          </p:cNvPr>
          <p:cNvSpPr txBox="1"/>
          <p:nvPr/>
        </p:nvSpPr>
        <p:spPr>
          <a:xfrm>
            <a:off x="666317" y="1608246"/>
            <a:ext cx="269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venir Next LT Pro Demi" panose="020B0504020202020204" pitchFamily="34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465D515-AED7-0C4B-B282-B61BBAA2D845}"/>
              </a:ext>
            </a:extLst>
          </p:cNvPr>
          <p:cNvSpPr/>
          <p:nvPr/>
        </p:nvSpPr>
        <p:spPr>
          <a:xfrm>
            <a:off x="577121" y="2609475"/>
            <a:ext cx="448216" cy="448216"/>
          </a:xfrm>
          <a:prstGeom prst="ellipse">
            <a:avLst/>
          </a:prstGeom>
          <a:solidFill>
            <a:srgbClr val="5F899F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F87489-999C-D34B-AFD2-F8A9469E21D6}"/>
              </a:ext>
            </a:extLst>
          </p:cNvPr>
          <p:cNvSpPr txBox="1"/>
          <p:nvPr/>
        </p:nvSpPr>
        <p:spPr>
          <a:xfrm>
            <a:off x="670543" y="2650667"/>
            <a:ext cx="269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venir Next LT Pro Demi" panose="020B0504020202020204" pitchFamily="34" charset="77"/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5E6FFB0-3E41-784A-AC68-C92EA4241793}"/>
              </a:ext>
            </a:extLst>
          </p:cNvPr>
          <p:cNvSpPr/>
          <p:nvPr/>
        </p:nvSpPr>
        <p:spPr>
          <a:xfrm>
            <a:off x="577121" y="3936167"/>
            <a:ext cx="448216" cy="448216"/>
          </a:xfrm>
          <a:prstGeom prst="ellipse">
            <a:avLst/>
          </a:prstGeom>
          <a:solidFill>
            <a:srgbClr val="5F899F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26BF9D-2E51-924C-B3EB-651E73A8F973}"/>
              </a:ext>
            </a:extLst>
          </p:cNvPr>
          <p:cNvSpPr txBox="1"/>
          <p:nvPr/>
        </p:nvSpPr>
        <p:spPr>
          <a:xfrm>
            <a:off x="678564" y="3977359"/>
            <a:ext cx="269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venir Next LT Pro Demi" panose="020B0504020202020204" pitchFamily="34" charset="77"/>
              </a:rPr>
              <a:t>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A6FC431-8425-9B47-95A8-8057CDAA5299}"/>
              </a:ext>
            </a:extLst>
          </p:cNvPr>
          <p:cNvCxnSpPr>
            <a:cxnSpLocks/>
          </p:cNvCxnSpPr>
          <p:nvPr/>
        </p:nvCxnSpPr>
        <p:spPr>
          <a:xfrm>
            <a:off x="-5654" y="6075890"/>
            <a:ext cx="9155307" cy="0"/>
          </a:xfrm>
          <a:prstGeom prst="line">
            <a:avLst/>
          </a:prstGeom>
          <a:ln w="28575">
            <a:solidFill>
              <a:srgbClr val="D1461C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0DBBF4C-218E-8240-845A-C4A9AB85FAE0}"/>
              </a:ext>
            </a:extLst>
          </p:cNvPr>
          <p:cNvSpPr/>
          <p:nvPr/>
        </p:nvSpPr>
        <p:spPr>
          <a:xfrm>
            <a:off x="-11308" y="6278879"/>
            <a:ext cx="9155307" cy="587829"/>
          </a:xfrm>
          <a:prstGeom prst="rect">
            <a:avLst/>
          </a:prstGeom>
          <a:solidFill>
            <a:srgbClr val="263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7E84CE98-DB34-1E41-883B-285273E96F3F}"/>
              </a:ext>
            </a:extLst>
          </p:cNvPr>
          <p:cNvSpPr txBox="1">
            <a:spLocks noChangeArrowheads="1"/>
          </p:cNvSpPr>
          <p:nvPr/>
        </p:nvSpPr>
        <p:spPr>
          <a:xfrm>
            <a:off x="162968" y="6492501"/>
            <a:ext cx="363617" cy="161583"/>
          </a:xfrm>
          <a:prstGeom prst="rect">
            <a:avLst/>
          </a:prstGeom>
          <a:ln/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fld id="{4437E754-A38A-4DAE-85A8-C6ABDB4CF640}" type="slidenum">
              <a:rPr lang="en-US" sz="1000">
                <a:solidFill>
                  <a:schemeClr val="bg1"/>
                </a:solidFill>
              </a:rPr>
              <a:pPr>
                <a:spcAft>
                  <a:spcPts val="600"/>
                </a:spcAft>
                <a:defRPr/>
              </a:pPr>
              <a:t>2</a:t>
            </a:fld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14" name="Picture 1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32FD2D3-FC94-1447-A51D-F641A3525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691" y="6470605"/>
            <a:ext cx="1193833" cy="20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099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72420F-D4F0-421B-B318-61B77E3B6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0759"/>
            <a:ext cx="9144000" cy="513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421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CE0C4-2C2E-2245-AE48-D52EC96FC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b="1" dirty="0">
                <a:solidFill>
                  <a:srgbClr val="263645"/>
                </a:solidFill>
                <a:latin typeface="Avenir Next LT Pro Demi" panose="020B0504020202020204" pitchFamily="34" charset="77"/>
              </a:rPr>
              <a:t>Dashboard Findings Explained</a:t>
            </a:r>
            <a:endParaRPr lang="en-US" b="1" dirty="0">
              <a:latin typeface="Avenir Next LT Pro Demi" panose="020B0504020202020204" pitchFamily="34" charset="77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A6FC431-8425-9B47-95A8-8057CDAA5299}"/>
              </a:ext>
            </a:extLst>
          </p:cNvPr>
          <p:cNvCxnSpPr>
            <a:cxnSpLocks/>
          </p:cNvCxnSpPr>
          <p:nvPr/>
        </p:nvCxnSpPr>
        <p:spPr>
          <a:xfrm>
            <a:off x="-5654" y="6051827"/>
            <a:ext cx="9155307" cy="0"/>
          </a:xfrm>
          <a:prstGeom prst="line">
            <a:avLst/>
          </a:prstGeom>
          <a:ln w="28575">
            <a:solidFill>
              <a:srgbClr val="D1461C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0DBBF4C-218E-8240-845A-C4A9AB85FAE0}"/>
              </a:ext>
            </a:extLst>
          </p:cNvPr>
          <p:cNvSpPr/>
          <p:nvPr/>
        </p:nvSpPr>
        <p:spPr>
          <a:xfrm>
            <a:off x="-11308" y="6278879"/>
            <a:ext cx="9155307" cy="587829"/>
          </a:xfrm>
          <a:prstGeom prst="rect">
            <a:avLst/>
          </a:prstGeom>
          <a:solidFill>
            <a:srgbClr val="263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7E84CE98-DB34-1E41-883B-285273E96F3F}"/>
              </a:ext>
            </a:extLst>
          </p:cNvPr>
          <p:cNvSpPr txBox="1">
            <a:spLocks noChangeArrowheads="1"/>
          </p:cNvSpPr>
          <p:nvPr/>
        </p:nvSpPr>
        <p:spPr>
          <a:xfrm>
            <a:off x="162968" y="6492501"/>
            <a:ext cx="363617" cy="161583"/>
          </a:xfrm>
          <a:prstGeom prst="rect">
            <a:avLst/>
          </a:prstGeom>
          <a:ln/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fld id="{4437E754-A38A-4DAE-85A8-C6ABDB4CF640}" type="slidenum">
              <a:rPr lang="en-US" sz="1000">
                <a:solidFill>
                  <a:schemeClr val="bg1"/>
                </a:solidFill>
              </a:rPr>
              <a:pPr>
                <a:spcAft>
                  <a:spcPts val="600"/>
                </a:spcAft>
                <a:defRPr/>
              </a:pPr>
              <a:t>4</a:t>
            </a:fld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14" name="Picture 1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32FD2D3-FC94-1447-A51D-F641A3525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691" y="6470605"/>
            <a:ext cx="1193833" cy="204257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A7935BD-F5EA-CA4F-93A9-4105F1034528}"/>
              </a:ext>
            </a:extLst>
          </p:cNvPr>
          <p:cNvSpPr txBox="1">
            <a:spLocks/>
          </p:cNvSpPr>
          <p:nvPr/>
        </p:nvSpPr>
        <p:spPr>
          <a:xfrm>
            <a:off x="526585" y="1581116"/>
            <a:ext cx="8160215" cy="4163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Of the total dataset, 7,369 rows (74%) detail customers who have subscribed to receive blades - of that, </a:t>
            </a:r>
            <a:r>
              <a:rPr lang="en-US" altLang="en-US" sz="1600" b="1" dirty="0">
                <a:latin typeface="Avenir Next LT Pro Demi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6,184 have never tried another product</a:t>
            </a:r>
          </a:p>
          <a:p>
            <a:pPr marL="642938" lvl="1" indent="-342900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For blade subscribers there is an average of 1.17 unique products in a customer lifetime</a:t>
            </a:r>
          </a:p>
          <a:p>
            <a:pPr marL="642938" lvl="1" indent="-342900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This leads to data that is largely skewed (bottom middle chart)</a:t>
            </a:r>
          </a:p>
          <a:p>
            <a:pPr marL="642938" lvl="1" indent="-342900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This arranges the overall dataset to have a low % of customers that “switch subscriptions”</a:t>
            </a:r>
            <a:br>
              <a:rPr lang="en-US" altLang="en-US" sz="14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</a:br>
            <a:endParaRPr lang="en-US" altLang="en-US" sz="1400" dirty="0">
              <a:latin typeface="Avenir Next LT Pro" panose="020B0504020202020204" pitchFamily="34" charset="7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The </a:t>
            </a:r>
            <a:r>
              <a:rPr lang="en-US" altLang="en-US" sz="1600" b="1" dirty="0">
                <a:latin typeface="Avenir Next LT Pro Demi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product switch likelihood is higher for pre/post shave or facial care products </a:t>
            </a:r>
            <a:r>
              <a:rPr lang="en-US" altLang="en-US" sz="16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(see bottom left chart indicated by the orange % line)</a:t>
            </a:r>
          </a:p>
          <a:p>
            <a:pPr marL="642938" lvl="1" indent="-342900"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Customers that are open to testing products other than blades in turn have a higher switch %</a:t>
            </a:r>
          </a:p>
          <a:p>
            <a:pPr marL="0" indent="0">
              <a:buNone/>
            </a:pPr>
            <a:endParaRPr lang="en-US" altLang="en-US" sz="800" dirty="0">
              <a:latin typeface="Avenir Next LT Pro" panose="020B0504020202020204" pitchFamily="34" charset="7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Avenir Next LT Pro Demi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Blades have the lowest cancellation history </a:t>
            </a:r>
            <a:r>
              <a:rPr lang="en-US" altLang="en-US" sz="16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around 30% (see bottom right chart)</a:t>
            </a:r>
            <a:endParaRPr lang="en-US" altLang="en-US" sz="1300" dirty="0">
              <a:latin typeface="Avenir Next LT Pro" panose="020B0504020202020204" pitchFamily="34" charset="7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en-US" sz="800" dirty="0">
              <a:latin typeface="Avenir Next LT Pro" panose="020B0504020202020204" pitchFamily="34" charset="7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Pre/post shave and facial care products have average </a:t>
            </a:r>
            <a:r>
              <a:rPr lang="en-US" altLang="en-US" sz="1600" b="1" dirty="0">
                <a:latin typeface="Avenir Next LT Pro Demi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cancellation percentages above 40% </a:t>
            </a:r>
            <a:r>
              <a:rPr lang="en-US" altLang="en-US" sz="16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(see bottom right chart)</a:t>
            </a:r>
          </a:p>
          <a:p>
            <a:pPr marL="642938" lvl="1" indent="-342900">
              <a:buFont typeface="Arial" panose="020B0604020202020204" pitchFamily="34" charset="0"/>
              <a:buChar char="•"/>
            </a:pPr>
            <a:r>
              <a:rPr lang="en-US" altLang="en-US" sz="13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Some customers may have been willing to try new products but didn’t stick with them</a:t>
            </a:r>
          </a:p>
        </p:txBody>
      </p:sp>
    </p:spTree>
    <p:extLst>
      <p:ext uri="{BB962C8B-B14F-4D97-AF65-F5344CB8AC3E}">
        <p14:creationId xmlns:p14="http://schemas.microsoft.com/office/powerpoint/2010/main" val="1995834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CE0C4-2C2E-2245-AE48-D52EC96FC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b="1" dirty="0">
                <a:solidFill>
                  <a:srgbClr val="263645"/>
                </a:solidFill>
                <a:latin typeface="Avenir Next LT Pro Demi" panose="020B0504020202020204" pitchFamily="34" charset="77"/>
              </a:rPr>
              <a:t>Dashboard Findings Explained</a:t>
            </a:r>
            <a:endParaRPr lang="en-US" b="1" dirty="0">
              <a:latin typeface="Avenir Next LT Pro Demi" panose="020B0504020202020204" pitchFamily="34" charset="77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A6FC431-8425-9B47-95A8-8057CDAA5299}"/>
              </a:ext>
            </a:extLst>
          </p:cNvPr>
          <p:cNvCxnSpPr>
            <a:cxnSpLocks/>
          </p:cNvCxnSpPr>
          <p:nvPr/>
        </p:nvCxnSpPr>
        <p:spPr>
          <a:xfrm>
            <a:off x="-5654" y="6051827"/>
            <a:ext cx="9155307" cy="0"/>
          </a:xfrm>
          <a:prstGeom prst="line">
            <a:avLst/>
          </a:prstGeom>
          <a:ln w="28575">
            <a:solidFill>
              <a:srgbClr val="D1461C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0DBBF4C-218E-8240-845A-C4A9AB85FAE0}"/>
              </a:ext>
            </a:extLst>
          </p:cNvPr>
          <p:cNvSpPr/>
          <p:nvPr/>
        </p:nvSpPr>
        <p:spPr>
          <a:xfrm>
            <a:off x="-11308" y="6278879"/>
            <a:ext cx="9155307" cy="587829"/>
          </a:xfrm>
          <a:prstGeom prst="rect">
            <a:avLst/>
          </a:prstGeom>
          <a:solidFill>
            <a:srgbClr val="263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7E84CE98-DB34-1E41-883B-285273E96F3F}"/>
              </a:ext>
            </a:extLst>
          </p:cNvPr>
          <p:cNvSpPr txBox="1">
            <a:spLocks noChangeArrowheads="1"/>
          </p:cNvSpPr>
          <p:nvPr/>
        </p:nvSpPr>
        <p:spPr>
          <a:xfrm>
            <a:off x="162968" y="6492501"/>
            <a:ext cx="363617" cy="161583"/>
          </a:xfrm>
          <a:prstGeom prst="rect">
            <a:avLst/>
          </a:prstGeom>
          <a:ln/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fld id="{4437E754-A38A-4DAE-85A8-C6ABDB4CF640}" type="slidenum">
              <a:rPr lang="en-US" sz="1000">
                <a:solidFill>
                  <a:schemeClr val="bg1"/>
                </a:solidFill>
              </a:rPr>
              <a:pPr>
                <a:spcAft>
                  <a:spcPts val="600"/>
                </a:spcAft>
                <a:defRPr/>
              </a:pPr>
              <a:t>5</a:t>
            </a:fld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14" name="Picture 1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32FD2D3-FC94-1447-A51D-F641A3525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691" y="6470605"/>
            <a:ext cx="1193833" cy="204257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A7935BD-F5EA-CA4F-93A9-4105F1034528}"/>
              </a:ext>
            </a:extLst>
          </p:cNvPr>
          <p:cNvSpPr txBox="1">
            <a:spLocks/>
          </p:cNvSpPr>
          <p:nvPr/>
        </p:nvSpPr>
        <p:spPr>
          <a:xfrm>
            <a:off x="526585" y="1581116"/>
            <a:ext cx="8160215" cy="4163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The data shows that </a:t>
            </a:r>
            <a:r>
              <a:rPr lang="en-US" altLang="en-US" sz="1600" b="1" dirty="0">
                <a:latin typeface="Avenir Next LT Pro Demi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customers who switched subscriptions have a marginally higher average customer lifetime </a:t>
            </a:r>
            <a:r>
              <a:rPr lang="en-US" altLang="en-US" sz="16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(see top middle chart)</a:t>
            </a:r>
            <a:endParaRPr lang="en-US" altLang="en-US" sz="1600" b="1" dirty="0">
              <a:latin typeface="Avenir Next LT Pro" panose="020B0504020202020204" pitchFamily="34" charset="7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642938" lvl="1" indent="-342900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~7%, or 11 days longer in the several months of data</a:t>
            </a:r>
          </a:p>
          <a:p>
            <a:pPr marL="300038" lvl="1" indent="0">
              <a:buNone/>
            </a:pPr>
            <a:endParaRPr lang="en-US" altLang="en-US" sz="1400" dirty="0">
              <a:latin typeface="Avenir Next LT Pro" panose="020B0504020202020204" pitchFamily="34" charset="7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Looking strictly at customers with retention over 160 days, the number of </a:t>
            </a:r>
            <a:r>
              <a:rPr lang="en-US" altLang="en-US" sz="1600" b="1" dirty="0">
                <a:latin typeface="Avenir Next LT Pro Demi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customers who have switched products does increase</a:t>
            </a:r>
            <a:r>
              <a:rPr lang="en-US" altLang="en-US" sz="16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, at least marginally, to just above a 10% subscription switch rate</a:t>
            </a:r>
          </a:p>
          <a:p>
            <a:pPr marL="0" indent="0">
              <a:buNone/>
            </a:pPr>
            <a:endParaRPr lang="en-US" altLang="en-US" sz="1600" dirty="0">
              <a:latin typeface="Avenir Next LT Pro" panose="020B0504020202020204" pitchFamily="34" charset="7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57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While only a small portion of customers terminated their subscriptions in the data, customers with an end type of </a:t>
            </a:r>
            <a:r>
              <a:rPr lang="en-US" altLang="en-US" sz="1570" b="1" dirty="0">
                <a:latin typeface="Avenir Next LT Pro Demi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“admin” had worse retention </a:t>
            </a:r>
            <a:r>
              <a:rPr lang="en-US" altLang="en-US" sz="157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than that of the website </a:t>
            </a:r>
          </a:p>
          <a:p>
            <a:pPr marL="642938" lvl="1" indent="-342900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The subscription switch % for an “admin” is 8.6% compared to 35.9% of the website</a:t>
            </a:r>
          </a:p>
          <a:p>
            <a:pPr marL="942975" lvl="2" indent="-342900"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The customer average lifetime also drops down to 92 days when a subscription is terminated via an “admin”</a:t>
            </a:r>
          </a:p>
          <a:p>
            <a:pPr marL="942975" lvl="2" indent="-342900"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Normally human interaction would be a good opportunity for encouraging other products but these findings show the opposite</a:t>
            </a:r>
          </a:p>
        </p:txBody>
      </p:sp>
    </p:spTree>
    <p:extLst>
      <p:ext uri="{BB962C8B-B14F-4D97-AF65-F5344CB8AC3E}">
        <p14:creationId xmlns:p14="http://schemas.microsoft.com/office/powerpoint/2010/main" val="977771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CE0C4-2C2E-2245-AE48-D52EC96FC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b="1" dirty="0">
                <a:solidFill>
                  <a:srgbClr val="263645"/>
                </a:solidFill>
                <a:latin typeface="Avenir Next LT Pro Demi" panose="020B0504020202020204" pitchFamily="34" charset="77"/>
              </a:rPr>
              <a:t>Assumptions &amp; Opportunities</a:t>
            </a:r>
            <a:endParaRPr lang="en-US" b="1" dirty="0">
              <a:solidFill>
                <a:srgbClr val="263645"/>
              </a:solidFill>
              <a:latin typeface="Avenir Next LT Pro Demi" panose="020B0504020202020204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1A68A-BB4D-4146-9C43-956E4D8C2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585" y="1492885"/>
            <a:ext cx="8160215" cy="3685068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5F899F"/>
                </a:solidFill>
                <a:latin typeface="Avenir Next LT Pro Demi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Assumptions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Lines that started and ended on the same day were one-time purchases</a:t>
            </a:r>
          </a:p>
          <a:p>
            <a:pPr marL="1100137" lvl="2" indent="-342900">
              <a:buFont typeface="Arial" panose="020B0604020202020204" pitchFamily="34" charset="0"/>
              <a:buChar char="•"/>
            </a:pPr>
            <a:r>
              <a:rPr lang="en-US" altLang="en-US" sz="145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These were filtered out of the dashboard via the one-time purchase flag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Subscription end type of “admin” means a customer service rep was answering the phone</a:t>
            </a:r>
          </a:p>
          <a:p>
            <a:pPr marL="457200" lvl="1" indent="0">
              <a:buNone/>
            </a:pPr>
            <a:endParaRPr lang="en-US" altLang="en-US" sz="1500" dirty="0">
              <a:latin typeface="Avenir Next LT Pro" panose="020B0504020202020204" pitchFamily="34" charset="7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5F899F"/>
                </a:solidFill>
                <a:latin typeface="Avenir Next LT Pro Demi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Opportunities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Dashboard can be refreshed on a nightly basis</a:t>
            </a:r>
          </a:p>
          <a:p>
            <a:pPr marL="1100137" lvl="2" indent="-342900">
              <a:buFont typeface="Arial" panose="020B0604020202020204" pitchFamily="34" charset="0"/>
              <a:buChar char="•"/>
            </a:pPr>
            <a:r>
              <a:rPr lang="en-US" altLang="en-US" sz="145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Additional pages could be created to answer specific questions on a more granular level</a:t>
            </a:r>
            <a:endParaRPr lang="en-US" altLang="en-US" sz="1450" b="1" dirty="0">
              <a:solidFill>
                <a:srgbClr val="5F899F"/>
              </a:solidFill>
              <a:latin typeface="Avenir Next LT Pro Demi" panose="020B0504020202020204" pitchFamily="34" charset="7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Larger data time frame</a:t>
            </a:r>
          </a:p>
          <a:p>
            <a:pPr marL="1100137" lvl="2" indent="-34290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Would allow for a long-term regression/correlation analysis</a:t>
            </a:r>
          </a:p>
          <a:p>
            <a:pPr marL="1443037" lvl="3" indent="-342900">
              <a:buFont typeface="Arial" panose="020B0604020202020204" pitchFamily="34" charset="0"/>
              <a:buChar char="•"/>
            </a:pPr>
            <a:r>
              <a:rPr lang="en-US" altLang="en-US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(e.g., if starter set kit has long term retention of its 3 products years later)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Implementation of a date slicer to allow the end user to select a specific year </a:t>
            </a:r>
          </a:p>
          <a:p>
            <a:pPr marL="1600200" lvl="3" indent="-342900">
              <a:buFont typeface="Arial" panose="020B0604020202020204" pitchFamily="34" charset="0"/>
              <a:buChar char="•"/>
            </a:pPr>
            <a:r>
              <a:rPr lang="en-US" altLang="en-US" dirty="0">
                <a:latin typeface="Avenir Next LT Pro" panose="020B0504020202020204" pitchFamily="34" charset="77"/>
                <a:cs typeface="Arial" panose="020B0604020202020204" pitchFamily="34" charset="0"/>
                <a:sym typeface="Wingdings" panose="05000000000000000000" pitchFamily="2" charset="2"/>
              </a:rPr>
              <a:t>would allow for year over year % growth calcs to see what metrics are improving/declining </a:t>
            </a:r>
          </a:p>
          <a:p>
            <a:pPr marL="657225" indent="-342900">
              <a:buFont typeface="Arial" panose="020B0604020202020204" pitchFamily="34" charset="0"/>
              <a:buChar char="•"/>
            </a:pPr>
            <a:endParaRPr lang="en-US" altLang="en-US" sz="2100" dirty="0">
              <a:latin typeface="Avenir Next LT Pro" panose="020B0504020202020204" pitchFamily="34" charset="77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A6FC431-8425-9B47-95A8-8057CDAA5299}"/>
              </a:ext>
            </a:extLst>
          </p:cNvPr>
          <p:cNvCxnSpPr>
            <a:cxnSpLocks/>
          </p:cNvCxnSpPr>
          <p:nvPr/>
        </p:nvCxnSpPr>
        <p:spPr>
          <a:xfrm>
            <a:off x="-11308" y="6051827"/>
            <a:ext cx="9155307" cy="0"/>
          </a:xfrm>
          <a:prstGeom prst="line">
            <a:avLst/>
          </a:prstGeom>
          <a:ln w="28575">
            <a:solidFill>
              <a:srgbClr val="D1461C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0DBBF4C-218E-8240-845A-C4A9AB85FAE0}"/>
              </a:ext>
            </a:extLst>
          </p:cNvPr>
          <p:cNvSpPr/>
          <p:nvPr/>
        </p:nvSpPr>
        <p:spPr>
          <a:xfrm>
            <a:off x="-11308" y="6278879"/>
            <a:ext cx="9155307" cy="587829"/>
          </a:xfrm>
          <a:prstGeom prst="rect">
            <a:avLst/>
          </a:prstGeom>
          <a:solidFill>
            <a:srgbClr val="263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7E84CE98-DB34-1E41-883B-285273E96F3F}"/>
              </a:ext>
            </a:extLst>
          </p:cNvPr>
          <p:cNvSpPr txBox="1">
            <a:spLocks noChangeArrowheads="1"/>
          </p:cNvSpPr>
          <p:nvPr/>
        </p:nvSpPr>
        <p:spPr>
          <a:xfrm>
            <a:off x="162968" y="6492501"/>
            <a:ext cx="363617" cy="161583"/>
          </a:xfrm>
          <a:prstGeom prst="rect">
            <a:avLst/>
          </a:prstGeom>
          <a:ln/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fld id="{4437E754-A38A-4DAE-85A8-C6ABDB4CF640}" type="slidenum">
              <a:rPr lang="en-US" sz="1000">
                <a:solidFill>
                  <a:schemeClr val="bg1"/>
                </a:solidFill>
              </a:rPr>
              <a:pPr>
                <a:spcAft>
                  <a:spcPts val="600"/>
                </a:spcAft>
                <a:defRPr/>
              </a:pPr>
              <a:t>6</a:t>
            </a:fld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14" name="Picture 1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32FD2D3-FC94-1447-A51D-F641A3525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691" y="6470605"/>
            <a:ext cx="1193833" cy="20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906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30D7B4857C4144A1298CDCC07654EE" ma:contentTypeVersion="11" ma:contentTypeDescription="Create a new document." ma:contentTypeScope="" ma:versionID="cab0474d796acb4f97eccea30ada61aa">
  <xsd:schema xmlns:xsd="http://www.w3.org/2001/XMLSchema" xmlns:xs="http://www.w3.org/2001/XMLSchema" xmlns:p="http://schemas.microsoft.com/office/2006/metadata/properties" xmlns:ns3="04591ca4-0647-4ff2-9441-79c1f3bc889f" xmlns:ns4="bbba0b4f-b530-42eb-939c-94c2032777ad" targetNamespace="http://schemas.microsoft.com/office/2006/metadata/properties" ma:root="true" ma:fieldsID="3014a5733d5027a66233b07093e43a86" ns3:_="" ns4:_="">
    <xsd:import namespace="04591ca4-0647-4ff2-9441-79c1f3bc889f"/>
    <xsd:import namespace="bbba0b4f-b530-42eb-939c-94c2032777a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591ca4-0647-4ff2-9441-79c1f3bc889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a0b4f-b530-42eb-939c-94c2032777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DC79E02-6E16-4D91-8BB5-16B9439941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55593E-8B21-4A79-8559-696A3AA0BD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591ca4-0647-4ff2-9441-79c1f3bc889f"/>
    <ds:schemaRef ds:uri="bbba0b4f-b530-42eb-939c-94c2032777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3BE48DE-68D7-47C0-A137-853AF1B8EBF2}">
  <ds:schemaRefs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bbba0b4f-b530-42eb-939c-94c2032777ad"/>
    <ds:schemaRef ds:uri="04591ca4-0647-4ff2-9441-79c1f3bc889f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13588</TotalTime>
  <Words>605</Words>
  <Application>Microsoft Office PowerPoint</Application>
  <PresentationFormat>On-screen Show (4:3)</PresentationFormat>
  <Paragraphs>59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Avenir Heavy</vt:lpstr>
      <vt:lpstr>Avenir Next LT Pro</vt:lpstr>
      <vt:lpstr>Avenir Next LT Pro Demi</vt:lpstr>
      <vt:lpstr>Avenir Next LT Pro Light</vt:lpstr>
      <vt:lpstr>Calibri</vt:lpstr>
      <vt:lpstr>Office Theme</vt:lpstr>
      <vt:lpstr>1_Office Theme</vt:lpstr>
      <vt:lpstr>PowerPoint Presentation</vt:lpstr>
      <vt:lpstr>Project Overview Steps Taken</vt:lpstr>
      <vt:lpstr>PowerPoint Presentation</vt:lpstr>
      <vt:lpstr>Dashboard Findings Explained</vt:lpstr>
      <vt:lpstr>Dashboard Findings Explained</vt:lpstr>
      <vt:lpstr>Assumptions &amp; Opportunities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Shughrue</dc:creator>
  <cp:lastModifiedBy>Jacob Shughrue</cp:lastModifiedBy>
  <cp:revision>131</cp:revision>
  <cp:lastPrinted>2022-01-18T19:57:40Z</cp:lastPrinted>
  <dcterms:created xsi:type="dcterms:W3CDTF">2020-08-13T17:23:41Z</dcterms:created>
  <dcterms:modified xsi:type="dcterms:W3CDTF">2022-09-22T00:39:37Z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0x010100E130D7B4857C4144A1298CDCC07654EE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2022-09-14T02:39:29Z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7ff9c4b9-e45e-4b22-a970-d77ad20a795d</vt:lpwstr>
  </property>
  <property fmtid="{D5CDD505-2E9C-101B-9397-08002B2CF9AE}" pid="8" name="MSIP_Label_defa4170-0d19-0005-0004-bc88714345d2_ActionId">
    <vt:lpwstr>5d5500c0-feb1-4da6-ae18-bc3b648d81a8</vt:lpwstr>
  </property>
  <property fmtid="{D5CDD505-2E9C-101B-9397-08002B2CF9AE}" pid="9" name="MSIP_Label_defa4170-0d19-0005-0004-bc88714345d2_ContentBits">
    <vt:lpwstr>0</vt:lpwstr>
  </property>
</Properties>
</file>